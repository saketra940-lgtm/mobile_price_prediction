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1" r:id="rId1"/>
  </p:sldMasterIdLst>
  <p:sldIdLst>
    <p:sldId id="278" r:id="rId2"/>
    <p:sldId id="257" r:id="rId3"/>
    <p:sldId id="259" r:id="rId4"/>
    <p:sldId id="261" r:id="rId5"/>
    <p:sldId id="262" r:id="rId6"/>
    <p:sldId id="274" r:id="rId7"/>
    <p:sldId id="277" r:id="rId8"/>
    <p:sldId id="275" r:id="rId9"/>
    <p:sldId id="276" r:id="rId10"/>
    <p:sldId id="263" r:id="rId11"/>
    <p:sldId id="264" r:id="rId12"/>
    <p:sldId id="266" r:id="rId13"/>
    <p:sldId id="267" r:id="rId14"/>
    <p:sldId id="271" r:id="rId15"/>
    <p:sldId id="268" r:id="rId16"/>
    <p:sldId id="279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94955E-A3FF-4224-A4CD-146556540E3E}" v="8" dt="2026-03-10T11:41:19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et rai" userId="8526e97aa0bf07cf" providerId="LiveId" clId="{A5A553E1-0D4B-4DAD-A4B2-7082F328FABA}"/>
    <pc:docChg chg="undo custSel addSld modSld sldOrd">
      <pc:chgData name="saket rai" userId="8526e97aa0bf07cf" providerId="LiveId" clId="{A5A553E1-0D4B-4DAD-A4B2-7082F328FABA}" dt="2026-03-10T11:43:31.942" v="68" actId="20577"/>
      <pc:docMkLst>
        <pc:docMk/>
      </pc:docMkLst>
      <pc:sldChg chg="addSp delSp modSp mod">
        <pc:chgData name="saket rai" userId="8526e97aa0bf07cf" providerId="LiveId" clId="{A5A553E1-0D4B-4DAD-A4B2-7082F328FABA}" dt="2026-03-10T11:43:06.718" v="60" actId="1076"/>
        <pc:sldMkLst>
          <pc:docMk/>
          <pc:sldMk cId="0" sldId="257"/>
        </pc:sldMkLst>
        <pc:spChg chg="mod">
          <ac:chgData name="saket rai" userId="8526e97aa0bf07cf" providerId="LiveId" clId="{A5A553E1-0D4B-4DAD-A4B2-7082F328FABA}" dt="2026-03-10T11:42:56.691" v="58" actId="14100"/>
          <ac:spMkLst>
            <pc:docMk/>
            <pc:sldMk cId="0" sldId="257"/>
            <ac:spMk id="3" creationId="{00000000-0000-0000-0000-000000000000}"/>
          </ac:spMkLst>
        </pc:spChg>
        <pc:spChg chg="mod">
          <ac:chgData name="saket rai" userId="8526e97aa0bf07cf" providerId="LiveId" clId="{A5A553E1-0D4B-4DAD-A4B2-7082F328FABA}" dt="2026-03-10T11:43:06.718" v="60" actId="1076"/>
          <ac:spMkLst>
            <pc:docMk/>
            <pc:sldMk cId="0" sldId="257"/>
            <ac:spMk id="4" creationId="{EFFB02D0-9EE1-D899-5BB5-539D07E0B043}"/>
          </ac:spMkLst>
        </pc:spChg>
        <pc:spChg chg="mod">
          <ac:chgData name="saket rai" userId="8526e97aa0bf07cf" providerId="LiveId" clId="{A5A553E1-0D4B-4DAD-A4B2-7082F328FABA}" dt="2026-03-10T11:43:02.234" v="59" actId="1076"/>
          <ac:spMkLst>
            <pc:docMk/>
            <pc:sldMk cId="0" sldId="257"/>
            <ac:spMk id="5" creationId="{CC4294B2-91BC-67F5-E8FF-BB0A17DC737A}"/>
          </ac:spMkLst>
        </pc:spChg>
        <pc:spChg chg="add del mod">
          <ac:chgData name="saket rai" userId="8526e97aa0bf07cf" providerId="LiveId" clId="{A5A553E1-0D4B-4DAD-A4B2-7082F328FABA}" dt="2026-03-10T11:41:28.717" v="42"/>
          <ac:spMkLst>
            <pc:docMk/>
            <pc:sldMk cId="0" sldId="257"/>
            <ac:spMk id="6" creationId="{B565994B-DBA0-2474-7AB8-E8450952C0BA}"/>
          </ac:spMkLst>
        </pc:spChg>
      </pc:sldChg>
      <pc:sldChg chg="modSp mod">
        <pc:chgData name="saket rai" userId="8526e97aa0bf07cf" providerId="LiveId" clId="{A5A553E1-0D4B-4DAD-A4B2-7082F328FABA}" dt="2026-03-10T11:31:21.218" v="0" actId="113"/>
        <pc:sldMkLst>
          <pc:docMk/>
          <pc:sldMk cId="0" sldId="264"/>
        </pc:sldMkLst>
        <pc:spChg chg="mod">
          <ac:chgData name="saket rai" userId="8526e97aa0bf07cf" providerId="LiveId" clId="{A5A553E1-0D4B-4DAD-A4B2-7082F328FABA}" dt="2026-03-10T11:31:21.218" v="0" actId="113"/>
          <ac:spMkLst>
            <pc:docMk/>
            <pc:sldMk cId="0" sldId="264"/>
            <ac:spMk id="2" creationId="{00000000-0000-0000-0000-000000000000}"/>
          </ac:spMkLst>
        </pc:spChg>
      </pc:sldChg>
      <pc:sldChg chg="addSp delSp modSp mod">
        <pc:chgData name="saket rai" userId="8526e97aa0bf07cf" providerId="LiveId" clId="{A5A553E1-0D4B-4DAD-A4B2-7082F328FABA}" dt="2026-03-10T11:43:31.942" v="68" actId="20577"/>
        <pc:sldMkLst>
          <pc:docMk/>
          <pc:sldMk cId="0" sldId="269"/>
        </pc:sldMkLst>
        <pc:spChg chg="mod">
          <ac:chgData name="saket rai" userId="8526e97aa0bf07cf" providerId="LiveId" clId="{A5A553E1-0D4B-4DAD-A4B2-7082F328FABA}" dt="2026-03-10T11:43:31.942" v="68" actId="20577"/>
          <ac:spMkLst>
            <pc:docMk/>
            <pc:sldMk cId="0" sldId="269"/>
            <ac:spMk id="2" creationId="{00000000-0000-0000-0000-000000000000}"/>
          </ac:spMkLst>
        </pc:spChg>
        <pc:spChg chg="add del mod">
          <ac:chgData name="saket rai" userId="8526e97aa0bf07cf" providerId="LiveId" clId="{A5A553E1-0D4B-4DAD-A4B2-7082F328FABA}" dt="2026-03-10T11:36:31.747" v="15" actId="21"/>
          <ac:spMkLst>
            <pc:docMk/>
            <pc:sldMk cId="0" sldId="269"/>
            <ac:spMk id="4" creationId="{79260FF2-FF17-7973-C4BC-A0EB40C6F738}"/>
          </ac:spMkLst>
        </pc:spChg>
      </pc:sldChg>
      <pc:sldChg chg="addSp delSp modSp new mod ord">
        <pc:chgData name="saket rai" userId="8526e97aa0bf07cf" providerId="LiveId" clId="{A5A553E1-0D4B-4DAD-A4B2-7082F328FABA}" dt="2026-03-10T11:38:15.748" v="34"/>
        <pc:sldMkLst>
          <pc:docMk/>
          <pc:sldMk cId="3279992132" sldId="279"/>
        </pc:sldMkLst>
        <pc:spChg chg="add del mod">
          <ac:chgData name="saket rai" userId="8526e97aa0bf07cf" providerId="LiveId" clId="{A5A553E1-0D4B-4DAD-A4B2-7082F328FABA}" dt="2026-03-10T11:37:30.080" v="29"/>
          <ac:spMkLst>
            <pc:docMk/>
            <pc:sldMk cId="3279992132" sldId="279"/>
            <ac:spMk id="2" creationId="{D70D5952-D33F-70C0-15A9-356E3BF1C776}"/>
          </ac:spMkLst>
        </pc:spChg>
        <pc:spChg chg="add mod">
          <ac:chgData name="saket rai" userId="8526e97aa0bf07cf" providerId="LiveId" clId="{A5A553E1-0D4B-4DAD-A4B2-7082F328FABA}" dt="2026-03-10T11:37:56.284" v="32" actId="255"/>
          <ac:spMkLst>
            <pc:docMk/>
            <pc:sldMk cId="3279992132" sldId="279"/>
            <ac:spMk id="4" creationId="{79260FF2-FF17-7973-C4BC-A0EB40C6F7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3A36-F765-0F85-11CD-8B5717653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49F65-D6CF-C219-8744-4DD1947BD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BF5A2-027F-6DEF-DF4F-51AE59B5C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7B53F-2B33-E5DD-4108-F3C12DBF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57C32-3C1B-36A0-35A4-4883A82D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1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0822C-3F27-4B7C-F359-E90A56F77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F9F9B-BFCB-99CE-4B78-16C765803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AC875-7C17-FD07-D601-657DE540D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BBDCE-1E01-7B32-5AC1-C656405F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DE08B-C871-6117-F26E-EFF8DD10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8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C9367-9C9F-7376-A485-7A37CD117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73F4B-4F66-A94F-C9B4-6D241E032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156B9-C8C8-C8E7-F7D3-DFB9F0B2A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E7566-FB5C-5AA5-15B7-BDC5ABDE1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E6948-AE87-4E91-913C-985661AB4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73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009A8-6624-B72A-1C57-3AE8FBC3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13E03-46F7-8F6C-DC30-A0B17AA262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11E3B-DC3D-E33A-7823-22536D3B4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C9FCE-8A4C-4A72-3A86-3A2A9309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6C2BA-654A-7AA8-23B0-1626F96B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7A6A0-58FE-9ED7-285D-74C1CF5D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4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683A-875A-7DF5-439D-F2DD84C53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3002D-0231-ED97-F9D8-9BD9EFF68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AC829-B6B4-9036-8EE6-A2D78EED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13F35-B315-FC94-B5C9-E33D1D111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BE018-503F-2090-18B6-0356AA0A7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0FB04-F9E3-8CDA-33F3-82D13F23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0B77C-A18E-8CDA-4184-19D2234D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5A001-9365-C989-5C50-0656CB2A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83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A096-72FC-65C9-CE20-F1E4F150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2C0A39-EAED-B21C-59A6-DE77E15BA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D4F2E3-3228-9EC2-AB58-6E8166172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5F0D45-A42E-41D4-FD30-9C698710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90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41E26F-36D3-FC76-C320-F7856F2C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AF32E-D082-B9E8-E5BD-D933D20EC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4670E-51A9-6FC0-AD02-39A3288D6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39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5D0DE-9D96-C3C6-6534-13749246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EC287-601F-EF2C-DCFA-33D54CE02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B3897A-F6D1-4FE4-3254-C5F9CA391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EFAFF-C3CB-398E-B9A9-4C86441C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FC13A-9C8D-E242-D863-6433DECB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200EE-C587-747E-2A86-B238CB6F3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7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78B3-C143-E6BD-DE79-79ED6E371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25F18-F9E8-613E-DC9C-95CA55A93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D34CE-2A2E-1E49-4F95-7BB6C8CD1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06CF7-BAA4-BF79-CDFD-C7178F8B3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6D9CE-5885-3513-166E-7E0996646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B9861-BB45-9149-A8C6-AC007444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4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D4D73-F465-E012-0109-094DCA00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8DC7DF-E0A2-36A2-0A2C-14549D2B5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2A728-E71A-9B05-E71C-73A3D1708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340EE-6EA3-2400-B0C7-C6848644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BE88-C513-239D-1EEF-CB0FEDE5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26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5E6EB-D195-08D4-F650-BF03C0C89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8DE11-7557-DFED-5705-C689E56F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1F818-0A22-EF64-BB8E-8F1EA670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2842A-7A1A-DB82-C283-BC509FB8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F484A-28A9-5895-B240-A71ECA1D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372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877CC6-D504-3D7D-648D-C02B0EA3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D700C-0C24-BEB1-2C8E-4260D1635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2FD54-CF7E-45E4-1575-CA4511C1B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61DD1-AC00-823D-3A7D-6E42853D8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9DE7B-A6EA-80BA-50F3-ACC9A358D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65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Mobile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80103"/>
            <a:ext cx="7886700" cy="860705"/>
          </a:xfrm>
        </p:spPr>
        <p:txBody>
          <a:bodyPr wrap="square">
            <a:normAutofit/>
          </a:bodyPr>
          <a:lstStyle/>
          <a:p>
            <a:r>
              <a:rPr sz="3200" b="1" dirty="0">
                <a:latin typeface="+mn-lt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3006"/>
            <a:ext cx="7886700" cy="1890968"/>
          </a:xfrm>
        </p:spPr>
        <p:txBody>
          <a:bodyPr wrap="square">
            <a:normAutofit/>
          </a:bodyPr>
          <a:lstStyle/>
          <a:p>
            <a:r>
              <a:rPr dirty="0"/>
              <a:t>Smartphones have various specifications such as RAM, storage, battery, and processor.</a:t>
            </a:r>
          </a:p>
          <a:p>
            <a:r>
              <a:rPr dirty="0"/>
              <a:t>These features influence the overall price of the device.</a:t>
            </a:r>
          </a:p>
          <a:p>
            <a:r>
              <a:rPr dirty="0"/>
              <a:t>Machine learning can analyze these specifications and predict the price of a mobile phone.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B02D0-9EE1-D899-5BB5-539D07E0B043}"/>
              </a:ext>
            </a:extLst>
          </p:cNvPr>
          <p:cNvSpPr txBox="1"/>
          <p:nvPr/>
        </p:nvSpPr>
        <p:spPr>
          <a:xfrm>
            <a:off x="707308" y="4102949"/>
            <a:ext cx="688258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objective of this project is to predict smartphone prices using machine learning algorithms.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The model uses phone specifications such as RAM, storage, battery, camera, and processor.</a:t>
            </a:r>
            <a:r>
              <a:rPr lang="en-US" altLang="en-US" sz="2000" dirty="0">
                <a:latin typeface="Arial" panose="020B0604020202020204" pitchFamily="34" charset="0"/>
              </a:rPr>
              <a:t> Identify key features affecting smartphone prices.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Build a machine learning model to predict mobile phone prices.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4294B2-91BC-67F5-E8FF-BB0A17DC737A}"/>
              </a:ext>
            </a:extLst>
          </p:cNvPr>
          <p:cNvSpPr txBox="1"/>
          <p:nvPr/>
        </p:nvSpPr>
        <p:spPr>
          <a:xfrm>
            <a:off x="628650" y="3295669"/>
            <a:ext cx="37958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Objective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4577"/>
          </a:xfrm>
        </p:spPr>
        <p:txBody>
          <a:bodyPr wrap="square">
            <a:normAutofit/>
          </a:bodyPr>
          <a:lstStyle/>
          <a:p>
            <a:r>
              <a:rPr sz="3200" b="1" dirty="0">
                <a:latin typeface="+mn-lt"/>
              </a:rP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4348"/>
            <a:ext cx="7886700" cy="1713988"/>
          </a:xfrm>
        </p:spPr>
        <p:txBody>
          <a:bodyPr wrap="square">
            <a:normAutofit/>
          </a:bodyPr>
          <a:lstStyle/>
          <a:p>
            <a:r>
              <a:rPr sz="2400" dirty="0"/>
              <a:t>Dataset contains 541 smartphone records.</a:t>
            </a:r>
          </a:p>
          <a:p>
            <a:r>
              <a:rPr sz="2400" dirty="0"/>
              <a:t>Each record includes specifications and price.</a:t>
            </a:r>
          </a:p>
          <a:p>
            <a:r>
              <a:rPr sz="2400" dirty="0"/>
              <a:t>Main features include Memory, RAM, Battery, Cameras, Processor, and Price.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0D1D4-F970-F3C6-C983-0DFD50D6A9D9}"/>
              </a:ext>
            </a:extLst>
          </p:cNvPr>
          <p:cNvSpPr txBox="1"/>
          <p:nvPr/>
        </p:nvSpPr>
        <p:spPr>
          <a:xfrm>
            <a:off x="628650" y="3354550"/>
            <a:ext cx="4031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Data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D41E8-101E-698D-F42D-806830D70F4E}"/>
              </a:ext>
            </a:extLst>
          </p:cNvPr>
          <p:cNvSpPr txBox="1"/>
          <p:nvPr/>
        </p:nvSpPr>
        <p:spPr>
          <a:xfrm>
            <a:off x="628650" y="4139380"/>
            <a:ext cx="76304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Converted camera values from text format (e.g., '13MP') to numeric values.</a:t>
            </a:r>
          </a:p>
          <a:p>
            <a:r>
              <a:rPr lang="en-US" sz="2400" dirty="0"/>
              <a:t>Removed unnecessary columns.</a:t>
            </a:r>
          </a:p>
          <a:p>
            <a:r>
              <a:rPr lang="en-US" sz="2400" dirty="0"/>
              <a:t>Checked for missing values and duplicates.</a:t>
            </a:r>
          </a:p>
          <a:p>
            <a:r>
              <a:rPr lang="en-US" sz="2400" dirty="0"/>
              <a:t>Encoded categorical variables for machine learning.</a:t>
            </a:r>
          </a:p>
          <a:p>
            <a:endParaRPr lang="en-I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sz="3200" b="1" dirty="0">
                <a:latin typeface="+mn-lt"/>
              </a:rP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702"/>
            <a:ext cx="7886700" cy="1930298"/>
          </a:xfrm>
        </p:spPr>
        <p:txBody>
          <a:bodyPr wrap="square">
            <a:normAutofit/>
          </a:bodyPr>
          <a:lstStyle/>
          <a:p>
            <a:r>
              <a:rPr sz="2400" dirty="0"/>
              <a:t>Analyzed distributions of RAM, Memory, and Price.</a:t>
            </a:r>
          </a:p>
          <a:p>
            <a:r>
              <a:rPr sz="2400" dirty="0"/>
              <a:t>Most smartphones fall in the ₹8000–₹20000 range.</a:t>
            </a:r>
          </a:p>
          <a:p>
            <a:r>
              <a:rPr sz="2400" dirty="0"/>
              <a:t>RAM mostly ranges from 4GB to 8GB.</a:t>
            </a:r>
          </a:p>
          <a:p>
            <a:r>
              <a:rPr sz="2400" dirty="0"/>
              <a:t>Storage ranges from 16GB to 256GB.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EAEDB-4C08-8D06-32BC-A2B500EA6216}"/>
              </a:ext>
            </a:extLst>
          </p:cNvPr>
          <p:cNvSpPr txBox="1"/>
          <p:nvPr/>
        </p:nvSpPr>
        <p:spPr>
          <a:xfrm>
            <a:off x="628650" y="4700216"/>
            <a:ext cx="6587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Target variable: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Input features: phone specifications.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Data split into training (80%) and testing (20%).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923C40-41E4-49AF-5517-FBE6A6119CD3}"/>
              </a:ext>
            </a:extLst>
          </p:cNvPr>
          <p:cNvSpPr txBox="1"/>
          <p:nvPr/>
        </p:nvSpPr>
        <p:spPr>
          <a:xfrm>
            <a:off x="628650" y="3991897"/>
            <a:ext cx="3658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Model 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832" y="347715"/>
            <a:ext cx="5683046" cy="627472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2800" b="1" dirty="0"/>
              <a:t>                       Price Distribution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5FC543-2087-9A69-DAA3-B77109F1B3F9}"/>
              </a:ext>
            </a:extLst>
          </p:cNvPr>
          <p:cNvSpPr txBox="1"/>
          <p:nvPr/>
        </p:nvSpPr>
        <p:spPr>
          <a:xfrm>
            <a:off x="771832" y="846648"/>
            <a:ext cx="7796981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3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A histogram was created to visualize the distribution of mobile prices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KDE curve was added to observe the overall trend of price distribution.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dirty="0"/>
              <a:t>Most mobile prices are concentrated in the mid-price range, while fewer phones exist in very low or very high price ranges.</a:t>
            </a:r>
          </a:p>
          <a:p>
            <a:endParaRPr lang="en-IN" sz="2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726EB-0EAE-E85C-912A-30E891663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32" y="3814916"/>
            <a:ext cx="7796982" cy="25563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DF1774-496A-E387-13CB-510068839186}"/>
              </a:ext>
            </a:extLst>
          </p:cNvPr>
          <p:cNvSpPr txBox="1"/>
          <p:nvPr/>
        </p:nvSpPr>
        <p:spPr>
          <a:xfrm>
            <a:off x="1347018" y="372823"/>
            <a:ext cx="57617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   RAM Distribution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5CE83BF-4654-2192-05C7-25E4643D2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658" y="1398787"/>
            <a:ext cx="791988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histogram was used to analyze the distribution of RAM values in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chart shows that most smartphones have 4GB to 8GB 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 RAM values appear less frequently in the dataset.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498A4E-7128-8E5C-8E3E-4B6E96F4C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8" y="3778967"/>
            <a:ext cx="7506929" cy="258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94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12F5F6-953D-64C4-81A8-17EE01724F62}"/>
              </a:ext>
            </a:extLst>
          </p:cNvPr>
          <p:cNvSpPr txBox="1"/>
          <p:nvPr/>
        </p:nvSpPr>
        <p:spPr>
          <a:xfrm>
            <a:off x="934065" y="442452"/>
            <a:ext cx="45228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MEMORY Distribution</a:t>
            </a:r>
            <a:endParaRPr lang="en-IN" sz="3200" b="1" dirty="0"/>
          </a:p>
          <a:p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C0AE2-9985-8A3B-7070-A34C3107D9C2}"/>
              </a:ext>
            </a:extLst>
          </p:cNvPr>
          <p:cNvSpPr txBox="1"/>
          <p:nvPr/>
        </p:nvSpPr>
        <p:spPr>
          <a:xfrm>
            <a:off x="894735" y="1386349"/>
            <a:ext cx="78166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A histogram was created to visualize the distribution of internal storage (memory).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Most smartphones in the dataset have 64GB to 128GB storage.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Very low or very high storage options appear less frequently.</a:t>
            </a:r>
          </a:p>
          <a:p>
            <a:endParaRPr lang="en-IN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4D9489B-A876-7FA8-28EE-C73781B72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7" y="3539613"/>
            <a:ext cx="7816646" cy="279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87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67D937-0AB0-3EF7-1B8D-C797160CB756}"/>
              </a:ext>
            </a:extLst>
          </p:cNvPr>
          <p:cNvSpPr txBox="1"/>
          <p:nvPr/>
        </p:nvSpPr>
        <p:spPr>
          <a:xfrm flipV="1">
            <a:off x="1632153" y="5958347"/>
            <a:ext cx="3381791" cy="663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B01D2C-EE8E-0CC0-7CE7-C1AB7E9CE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3" y="782449"/>
            <a:ext cx="8357420" cy="2569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boxplot was used to analyze the relationship between mobile storage (Memory) and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Phones with higher storage (128GB–256GB) generally have higher prices.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 storage phones such as 16GB or 32GB are mostly found in lower price ranges.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indicates a positive relationship between memory and price.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9D845-32CA-B46E-4ADD-7E92125F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7" y="3429000"/>
            <a:ext cx="7718322" cy="32171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E00831-9861-A641-ABE1-8D15D469F1AB}"/>
              </a:ext>
            </a:extLst>
          </p:cNvPr>
          <p:cNvSpPr txBox="1"/>
          <p:nvPr/>
        </p:nvSpPr>
        <p:spPr>
          <a:xfrm>
            <a:off x="471947" y="226142"/>
            <a:ext cx="7246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latin typeface="Arial" panose="020B0604020202020204" pitchFamily="34" charset="0"/>
              </a:rPr>
              <a:t>      Memory vs Price Distribution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2798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49AC5-A689-733A-0B4A-80357ADCB2E5}"/>
              </a:ext>
            </a:extLst>
          </p:cNvPr>
          <p:cNvSpPr txBox="1"/>
          <p:nvPr/>
        </p:nvSpPr>
        <p:spPr>
          <a:xfrm>
            <a:off x="1160206" y="395456"/>
            <a:ext cx="57518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/>
              <a:t>        RAM  vs Price Distribution</a:t>
            </a:r>
            <a:endParaRPr lang="en-IN" sz="3200" b="1" dirty="0"/>
          </a:p>
          <a:p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861A1-F2DE-59A7-66F7-3F3836DEE883}"/>
              </a:ext>
            </a:extLst>
          </p:cNvPr>
          <p:cNvSpPr txBox="1"/>
          <p:nvPr/>
        </p:nvSpPr>
        <p:spPr>
          <a:xfrm>
            <a:off x="619432" y="1150374"/>
            <a:ext cx="823943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This shows that RAM plays an important role in determining smartphone prices.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Smartphones with higher RAM (6GB–8GB) generally have higher prices.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A boxplot was created to study the relationship between RAM and mobile price.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Devices with 2GB–3GB RAM are mostly in the lower price range.</a:t>
            </a:r>
          </a:p>
          <a:p>
            <a:endParaRPr lang="en-IN" sz="2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FF0AAE-1E96-30BD-080C-6A895F21C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3" y="3864078"/>
            <a:ext cx="7718322" cy="249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4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140" y="18256"/>
            <a:ext cx="7886700" cy="915810"/>
          </a:xfrm>
        </p:spPr>
        <p:txBody>
          <a:bodyPr wrap="square">
            <a:normAutofit/>
          </a:bodyPr>
          <a:lstStyle/>
          <a:p>
            <a:r>
              <a:rPr sz="3200" b="1" dirty="0">
                <a:latin typeface="+mn-lt"/>
              </a:rPr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14404"/>
            <a:ext cx="7886700" cy="2307756"/>
          </a:xfrm>
        </p:spPr>
        <p:txBody>
          <a:bodyPr wrap="square">
            <a:normAutofit/>
          </a:bodyPr>
          <a:lstStyle/>
          <a:p>
            <a:r>
              <a:rPr lang="en-US" sz="2000" dirty="0"/>
              <a:t>A correlation matrix was used to identify relationships between mobile features and price.</a:t>
            </a:r>
          </a:p>
          <a:p>
            <a:r>
              <a:rPr lang="en-US" sz="2000" dirty="0"/>
              <a:t>Memory, RAM, and Front Camera show a strong positive correlation with price.</a:t>
            </a:r>
          </a:p>
          <a:p>
            <a:r>
              <a:rPr lang="en-US" sz="2000" dirty="0"/>
              <a:t>Rear Camera shows a moderate correlation with price.</a:t>
            </a:r>
          </a:p>
          <a:p>
            <a:r>
              <a:rPr lang="en-US" sz="2000" dirty="0"/>
              <a:t>Other features like </a:t>
            </a:r>
            <a:r>
              <a:rPr lang="en-US" sz="2000" dirty="0" err="1"/>
              <a:t>Colour</a:t>
            </a:r>
            <a:r>
              <a:rPr lang="en-US" sz="2000" dirty="0"/>
              <a:t>, Battery, and Processor show weak correlation.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A3949-495F-C907-97D5-A156B949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2959511"/>
            <a:ext cx="7610167" cy="36477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8817"/>
            <a:ext cx="7886700" cy="647597"/>
          </a:xfrm>
        </p:spPr>
        <p:txBody>
          <a:bodyPr wrap="square">
            <a:normAutofit/>
          </a:bodyPr>
          <a:lstStyle/>
          <a:p>
            <a:r>
              <a:rPr sz="3200" b="1" dirty="0">
                <a:latin typeface="+mn-lt"/>
              </a:rP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4124"/>
            <a:ext cx="8229600" cy="2313037"/>
          </a:xfrm>
        </p:spPr>
        <p:txBody>
          <a:bodyPr wrap="square">
            <a:noAutofit/>
          </a:bodyPr>
          <a:lstStyle/>
          <a:p>
            <a:r>
              <a:rPr lang="en-US" sz="2000" dirty="0"/>
              <a:t>Front Camera is the most influential feature affecting mobile price.</a:t>
            </a:r>
          </a:p>
          <a:p>
            <a:r>
              <a:rPr lang="en-US" sz="2000" dirty="0"/>
              <a:t>Battery capacity and Model also have significant impact on price prediction.</a:t>
            </a:r>
          </a:p>
          <a:p>
            <a:r>
              <a:rPr lang="en-US" sz="2000" dirty="0"/>
              <a:t>Memory and Rear Camera show a moderate influence on the price.</a:t>
            </a:r>
          </a:p>
          <a:p>
            <a:r>
              <a:rPr lang="en-US" sz="2000" dirty="0"/>
              <a:t>Processor and Mobile Height have smaller contributions.</a:t>
            </a:r>
          </a:p>
          <a:p>
            <a:r>
              <a:rPr lang="en-US" sz="2000" dirty="0"/>
              <a:t>RAM and AI Lens have very low importance in the model.</a:t>
            </a:r>
          </a:p>
          <a:p>
            <a:pPr marL="0" indent="0">
              <a:buNone/>
            </a:pPr>
            <a:endParaRPr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05B85F-0C23-2086-4E08-F960C707B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964425"/>
            <a:ext cx="8160775" cy="33282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b="1" dirty="0">
                <a:latin typeface="+mn-lt"/>
              </a:rPr>
              <a:t>Machine Learning Models</a:t>
            </a:r>
            <a:r>
              <a:rPr lang="en-US" b="1" dirty="0">
                <a:latin typeface="+mn-lt"/>
              </a:rPr>
              <a:t> </a:t>
            </a:r>
            <a:r>
              <a:rPr lang="en-IN" b="1" dirty="0">
                <a:latin typeface="+mn-lt"/>
              </a:rPr>
              <a:t>Performance</a:t>
            </a:r>
            <a:endParaRPr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r>
              <a:rPr lang="en-US" sz="2300" b="1" dirty="0"/>
              <a:t>1. Linear Regression</a:t>
            </a:r>
          </a:p>
          <a:p>
            <a:r>
              <a:rPr lang="en-US" sz="2300" dirty="0"/>
              <a:t>A Linear Regression model was trained to predict mobile prices.</a:t>
            </a:r>
          </a:p>
          <a:p>
            <a:r>
              <a:rPr lang="en-US" sz="2300" dirty="0"/>
              <a:t>The model achieved an R² score of ~0.87, indicating good predictive performance.</a:t>
            </a:r>
          </a:p>
          <a:p>
            <a:r>
              <a:rPr lang="en-US" sz="2300" dirty="0"/>
              <a:t>MAE ≈ 1573 and RMSE ≈ 2775 show a moderate prediction error.</a:t>
            </a:r>
          </a:p>
          <a:p>
            <a:r>
              <a:rPr lang="en-US" sz="2300" dirty="0"/>
              <a:t>This model was used as a baseline model.</a:t>
            </a:r>
          </a:p>
          <a:p>
            <a:endParaRPr lang="en-US" sz="2300" dirty="0"/>
          </a:p>
          <a:p>
            <a:r>
              <a:rPr lang="en-US" sz="2300" b="1" dirty="0"/>
              <a:t>2. Decision Tree Regressor</a:t>
            </a:r>
          </a:p>
          <a:p>
            <a:r>
              <a:rPr lang="en-US" sz="2300" dirty="0"/>
              <a:t>A Decision Tree model was applied to capture nonlinear relationships in the data.</a:t>
            </a:r>
          </a:p>
          <a:p>
            <a:endParaRPr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"/>
          </a:xfrm>
        </p:spPr>
        <p:txBody>
          <a:bodyPr wrap="square">
            <a:normAutofit fontScale="90000"/>
          </a:bodyPr>
          <a:lstStyle/>
          <a:p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765" y="113044"/>
            <a:ext cx="8229600" cy="5684855"/>
          </a:xfrm>
        </p:spPr>
        <p:txBody>
          <a:bodyPr wrap="square">
            <a:noAutofit/>
          </a:bodyPr>
          <a:lstStyle/>
          <a:p>
            <a:r>
              <a:rPr lang="en-US" sz="2300" dirty="0"/>
              <a:t>The model achieved an R² score of ~0.87.</a:t>
            </a:r>
          </a:p>
          <a:p>
            <a:r>
              <a:rPr lang="en-US" sz="2300" dirty="0"/>
              <a:t>MAE ≈ 874, which is lower than Linear Regression, indicating better accuracy.</a:t>
            </a:r>
          </a:p>
          <a:p>
            <a:r>
              <a:rPr lang="en-US" sz="2300" dirty="0"/>
              <a:t>The Decision Tree performed slightly better on this dataset.</a:t>
            </a:r>
          </a:p>
          <a:p>
            <a:pPr marL="0" indent="0">
              <a:buNone/>
            </a:pPr>
            <a:endParaRPr lang="en-US" sz="2300" b="1" dirty="0"/>
          </a:p>
          <a:p>
            <a:pPr marL="0" indent="0">
              <a:buNone/>
            </a:pPr>
            <a:endParaRPr lang="en-US" sz="2300" b="1" dirty="0"/>
          </a:p>
          <a:p>
            <a:pPr marL="0" indent="0">
              <a:buNone/>
            </a:pPr>
            <a:r>
              <a:rPr lang="en-US" sz="2300" b="1" dirty="0"/>
              <a:t>3. Random Forest </a:t>
            </a:r>
          </a:p>
          <a:p>
            <a:r>
              <a:rPr lang="en-US" sz="2300" dirty="0"/>
              <a:t>A Random Forest model, which combines multiple decision trees, was also trained.</a:t>
            </a:r>
          </a:p>
          <a:p>
            <a:r>
              <a:rPr lang="en-US" sz="2300" dirty="0"/>
              <a:t>It achieved an R² score of ~0.85.</a:t>
            </a:r>
          </a:p>
          <a:p>
            <a:r>
              <a:rPr lang="en-US" sz="2300" dirty="0"/>
              <a:t>MAE ≈ 1406 and RMSE ≈ 2994 indicate slightly higher prediction errors compared to the Decision Tree.</a:t>
            </a:r>
          </a:p>
          <a:p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4478D8-9461-CB05-CD0B-3E66783E8524}"/>
              </a:ext>
            </a:extLst>
          </p:cNvPr>
          <p:cNvSpPr txBox="1"/>
          <p:nvPr/>
        </p:nvSpPr>
        <p:spPr>
          <a:xfrm>
            <a:off x="783772" y="4591986"/>
            <a:ext cx="72750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Among all models, the </a:t>
            </a:r>
            <a:r>
              <a:rPr lang="en-US" b="1" dirty="0"/>
              <a:t>Decision Tree Regressor performed the best</a:t>
            </a:r>
            <a:r>
              <a:rPr lang="en-US" dirty="0"/>
              <a:t>, achieving the lowest error and the highest R² score for mobile price prediction.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5A0535-F058-F949-E235-27677CECD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88" y="1296238"/>
            <a:ext cx="6983603" cy="2980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0F1A0E-4FB3-6377-98A4-429144E3F5D5}"/>
              </a:ext>
            </a:extLst>
          </p:cNvPr>
          <p:cNvSpPr txBox="1"/>
          <p:nvPr/>
        </p:nvSpPr>
        <p:spPr>
          <a:xfrm>
            <a:off x="783772" y="391886"/>
            <a:ext cx="6772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                     Compare All Models</a:t>
            </a:r>
          </a:p>
        </p:txBody>
      </p:sp>
    </p:spTree>
    <p:extLst>
      <p:ext uri="{BB962C8B-B14F-4D97-AF65-F5344CB8AC3E}">
        <p14:creationId xmlns:p14="http://schemas.microsoft.com/office/powerpoint/2010/main" val="2633820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Actual vs Predicted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Compared actual mobile prices with predicted prices.</a:t>
            </a:r>
          </a:p>
          <a:p>
            <a:r>
              <a:rPr dirty="0"/>
              <a:t>Predicted values closely follow actual values with small deviations.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D7CAD3-492A-4C4E-B7F9-57221EA5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156156"/>
            <a:ext cx="7886700" cy="31525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260FF2-FF17-7973-C4BC-A0EB40C6F738}"/>
              </a:ext>
            </a:extLst>
          </p:cNvPr>
          <p:cNvSpPr txBox="1"/>
          <p:nvPr/>
        </p:nvSpPr>
        <p:spPr>
          <a:xfrm>
            <a:off x="545690" y="196646"/>
            <a:ext cx="779698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 Recommendations</a:t>
            </a:r>
          </a:p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/>
              <a:t>Smartphones with higher RAM and memory can be priced at a premium because they strongly influence mobile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/>
              <a:t>Camera quality (front and rear) plays an important role in price, so phones with better cameras can be positioned in higher price segments.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/>
              <a:t>Most smartphones in the dataset fall in the ₹8000–₹20000 range, so companies should focus on this mid-range segment to attract more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/>
              <a:t>Battery capacity and processor performance should also be improved in higher-priced models to justify the price.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/>
              <a:t>Machine learning models can help the company predict optimal prices for new smartphones based on their specifications.</a:t>
            </a:r>
          </a:p>
          <a:p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3279992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b="1">
                <a:latin typeface="+mn-lt"/>
              </a:rPr>
              <a:t>Final </a:t>
            </a:r>
            <a:r>
              <a:rPr b="1">
                <a:latin typeface="+mn-lt"/>
              </a:rPr>
              <a:t>Conclusion</a:t>
            </a:r>
            <a:endParaRPr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Machine learning can effectively predict smartphone prices.</a:t>
            </a:r>
          </a:p>
          <a:p>
            <a:r>
              <a:rPr dirty="0"/>
              <a:t>Features like RAM, memory, camera, and battery strongly influence price.</a:t>
            </a:r>
          </a:p>
          <a:p>
            <a:r>
              <a:rPr dirty="0"/>
              <a:t>Decision Tree provided the best prediction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954</Words>
  <Application>Microsoft Office PowerPoint</Application>
  <PresentationFormat>On-screen Show (4:3)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Mobile Price Prediction Using Machine Learning</vt:lpstr>
      <vt:lpstr>Introduction</vt:lpstr>
      <vt:lpstr>Dataset Description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Correlation Analysis</vt:lpstr>
      <vt:lpstr>Feature Importance</vt:lpstr>
      <vt:lpstr>Machine Learning Models Performance</vt:lpstr>
      <vt:lpstr> </vt:lpstr>
      <vt:lpstr>PowerPoint Presentation</vt:lpstr>
      <vt:lpstr>Actual vs Predicted Prices</vt:lpstr>
      <vt:lpstr>PowerPoint Presentation</vt:lpstr>
      <vt:lpstr>Final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saket rai</dc:creator>
  <cp:keywords/>
  <dc:description>generated using python-pptx</dc:description>
  <cp:lastModifiedBy>saket rai</cp:lastModifiedBy>
  <cp:revision>5</cp:revision>
  <dcterms:created xsi:type="dcterms:W3CDTF">2013-01-27T09:14:16Z</dcterms:created>
  <dcterms:modified xsi:type="dcterms:W3CDTF">2026-03-10T11:43:33Z</dcterms:modified>
  <cp:category/>
</cp:coreProperties>
</file>